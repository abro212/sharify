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1600" b="1">
                <a:solidFill>
                  <a:srgbClr val="C5A059"/>
                </a:solidFill>
                <a:latin typeface="Arial"/>
              </a:defRPr>
            </a:pPr>
            <a:r>
              <a:t>Pengabdian Masyarakat</a:t>
            </a:r>
          </a:p>
          <a:p>
            <a:pPr algn="ctr">
              <a:spcBef>
                <a:spcPts val="1000"/>
              </a:spcBef>
              <a:defRPr sz="2200">
                <a:solidFill>
                  <a:srgbClr val="064E3B"/>
                </a:solidFill>
                <a:latin typeface="Georgia"/>
              </a:defRPr>
            </a:pPr>
            <a:r>
              <a:t>Gerakan Edukasi Keuangan Syariah</a:t>
            </a:r>
          </a:p>
          <a:p>
            <a:pPr algn="ctr">
              <a:spcBef>
                <a:spcPts val="600"/>
              </a:spcBef>
              <a:defRPr sz="3600" b="1">
                <a:solidFill>
                  <a:srgbClr val="064E3B"/>
                </a:solidFill>
                <a:latin typeface="Georgia"/>
              </a:defRPr>
            </a:pPr>
            <a:r>
              <a:t>Smart Syariah Financial Planning</a:t>
            </a:r>
          </a:p>
          <a:p>
            <a:pPr algn="ctr">
              <a:spcBef>
                <a:spcPts val="2000"/>
              </a:spcBef>
              <a:defRPr sz="1300" b="1">
                <a:solidFill>
                  <a:srgbClr val="C5A059"/>
                </a:solidFill>
                <a:latin typeface="Arial"/>
              </a:defRPr>
            </a:pPr>
            <a:r>
              <a:t>31 JULY 2026 | KAMPUS POLTEKKES KEMENKES JAKARTA 2</a:t>
            </a:r>
          </a:p>
          <a:p>
            <a:pPr algn="ctr">
              <a:spcBef>
                <a:spcPts val="6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Program Studi Magister Manajemen Universitas Paramadina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Topik Pembahasan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Tiga Pilar Utama Pembekalan Literasi Keuangan Syariah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064E3B"/>
                </a:solidFill>
                <a:latin typeface="Georgia"/>
              </a:defRPr>
            </a:pPr>
            <a:r>
              <a:t>1. Prinsip Keuangan Syariah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Memahami fondasi Fiqh Muamalah, Tauhid, Keadilan, &amp; Keberkahan dalam harta.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201168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064E3B"/>
                </a:solidFill>
                <a:latin typeface="Georgia"/>
              </a:defRPr>
            </a:pPr>
            <a:r>
              <a:t>2. Syariah Financial Planning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Strategi formula 40-30-20-10, Zakat, Tabungan, Investasi Halal, &amp; Dana Darurat.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201168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064E3B"/>
                </a:solidFill>
                <a:latin typeface="Georgia"/>
              </a:defRPr>
            </a:pPr>
            <a:r>
              <a:t>3. Waspada Pinjol &amp; Judol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Mengidentifikasi bahaya Riba, Gharar, Maysir, serta pencegahan judi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Prinsip Keuangan Syariah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Mengapa Islam Mengatur Keuangan?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Uang bukan tujuan, melainkan alat untuk mencapai maslahat. Islam mengatur keuangan agar harta menjadi jalan kebaikan bukan sumber kerusakan.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TAUHID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Harta adalah milik Allah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310896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KEADILAN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Keseimbangan hak &amp; kewajiban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310896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TRANSPARANSI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Akad jelas tanpa penipuan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TIDAK MERUGIKAN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Bebas dari bahaya dharar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7548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HALAL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Bebas dari Riba, Gharar, Maysir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7548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KEBERKAHAN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Berorientasi dunia &amp; akhirat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Apa itu Riba?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Tambahan yang dipersyaratkan dalam pertukaran atau pinjaman tanpa imbalan usaha/risiko sepadan.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200" b="1">
                <a:solidFill>
                  <a:srgbClr val="064E3B"/>
                </a:solidFill>
                <a:latin typeface="Georgia"/>
              </a:defRPr>
            </a:pPr>
            <a:r>
              <a:t>Riba Fadhl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Tambahan pada tukar-menukar barang ribawi sejenis dengan takaran/timbangan yang berbeda.</a:t>
            </a:r>
            <a:br/>
            <a:br/>
            <a:r>
              <a:t>Contoh: Menukar emas 10 gram dengan emas 11 gram; menukar uang Rp100 ribu dengan pecahan baru senilai Rp95 ribu.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200" b="1">
                <a:solidFill>
                  <a:srgbClr val="064E3B"/>
                </a:solidFill>
                <a:latin typeface="Georgia"/>
              </a:defRPr>
            </a:pPr>
            <a:r>
              <a:t>Riba Nasi'ah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Tambahan yang dipersyaratkan karena penundaan waktu pembayaran utang-piutang.</a:t>
            </a:r>
            <a:br/>
            <a:br/>
            <a:r>
              <a:t>Contoh: Pinjam Rp1 juta wajib kembali Rp1.2 juta; bunga kartu kredit &amp; denda pinjol ilegal yang terus berbunga majemuk.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Survei Membuktikan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Sumber Data: OJK, BPS SNLIK 2024, Satgas PASTI 2026, PPATK 2025-2026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68880" cy="393192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3600" b="1">
                <a:solidFill>
                  <a:srgbClr val="C5A059"/>
                </a:solidFill>
                <a:latin typeface="Georgia"/>
              </a:defRPr>
            </a:pPr>
            <a:r>
              <a:t>39,11%</a:t>
            </a:r>
          </a:p>
          <a:p>
            <a:pPr algn="ctr">
              <a:spcBef>
                <a:spcPts val="16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Indeks literasi keuangan syariah nasional (masih perlu ditingkatkan).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011680"/>
            <a:ext cx="2468880" cy="393192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3600" b="1">
                <a:solidFill>
                  <a:srgbClr val="C5A059"/>
                </a:solidFill>
                <a:latin typeface="Georgia"/>
              </a:defRPr>
            </a:pPr>
            <a:r>
              <a:t>951</a:t>
            </a:r>
          </a:p>
          <a:p>
            <a:pPr algn="ctr">
              <a:spcBef>
                <a:spcPts val="16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Entitas pinjol ilegal yang telah diblokir OJK.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2468880" cy="393192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3600" b="1">
                <a:solidFill>
                  <a:srgbClr val="C5A059"/>
                </a:solidFill>
                <a:latin typeface="Georgia"/>
              </a:defRPr>
            </a:pPr>
            <a:r>
              <a:t>12,3 jt</a:t>
            </a:r>
          </a:p>
          <a:p>
            <a:pPr algn="ctr">
              <a:spcBef>
                <a:spcPts val="16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Pemain judi online yang terdeteksi di Indonesia.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2011680"/>
            <a:ext cx="2468880" cy="393192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3600" b="1">
                <a:solidFill>
                  <a:srgbClr val="C5A059"/>
                </a:solidFill>
                <a:latin typeface="Georgia"/>
              </a:defRPr>
            </a:pPr>
            <a:r>
              <a:t>80%</a:t>
            </a:r>
          </a:p>
          <a:p>
            <a:pPr algn="ctr">
              <a:spcBef>
                <a:spcPts val="16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Perputaran dana judi online berasal dari pelajar &amp; mahasiswa.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Kenapa Mahasiswa Jadi Sasaran Empuk?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Faktor Kerentanan Generasi Muda Terhadap Pinjol Ilegal &amp; Judol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500" b="1">
                <a:solidFill>
                  <a:srgbClr val="064E3B"/>
                </a:solidFill>
                <a:latin typeface="Georgia"/>
              </a:defRPr>
            </a:pPr>
            <a:r>
              <a:t>Tekanan Sosial: </a:t>
            </a:r>
            <a:r>
              <a:rPr sz="1400" b="0">
                <a:solidFill>
                  <a:srgbClr val="1E293B"/>
                </a:solidFill>
                <a:latin typeface="Arial"/>
              </a:rPr>
              <a:t>Uang saku terbatas, namun tekanan gaya hidup &amp; nongkrong tinggi.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500" b="1">
                <a:solidFill>
                  <a:srgbClr val="064E3B"/>
                </a:solidFill>
                <a:latin typeface="Georgia"/>
              </a:defRPr>
            </a:pPr>
            <a:r>
              <a:t>Digital Native: </a:t>
            </a:r>
            <a:r>
              <a:rPr sz="1400" b="0">
                <a:solidFill>
                  <a:srgbClr val="1E293B"/>
                </a:solidFill>
                <a:latin typeface="Arial"/>
              </a:rPr>
              <a:t>Sangat familiar dengan aplikasi mobile &amp; transaksi digital instan.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500" b="1">
                <a:solidFill>
                  <a:srgbClr val="064E3B"/>
                </a:solidFill>
                <a:latin typeface="Georgia"/>
              </a:defRPr>
            </a:pPr>
            <a:r>
              <a:t>FOMO (Fear Of Missing Out): </a:t>
            </a:r>
            <a:r>
              <a:rPr sz="1400" b="0">
                <a:solidFill>
                  <a:srgbClr val="1E293B"/>
                </a:solidFill>
                <a:latin typeface="Arial"/>
              </a:rPr>
              <a:t>Terpapar iklan pinjol/judol yang agresif &amp; takut ketinggalan tren.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500" b="1">
                <a:solidFill>
                  <a:srgbClr val="064E3B"/>
                </a:solidFill>
                <a:latin typeface="Georgia"/>
              </a:defRPr>
            </a:pPr>
            <a:r>
              <a:t>Literasi Syariah Rendah: </a:t>
            </a:r>
            <a:r>
              <a:rPr sz="1400" b="0">
                <a:solidFill>
                  <a:srgbClr val="1E293B"/>
                </a:solidFill>
                <a:latin typeface="Arial"/>
              </a:rPr>
              <a:t>Minim pemahaman akan bahaya serta larangan Riba, Gharar, &amp; Maysir.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500" b="1">
                <a:solidFill>
                  <a:srgbClr val="064E3B"/>
                </a:solidFill>
                <a:latin typeface="Georgia"/>
              </a:defRPr>
            </a:pPr>
            <a:r>
              <a:t>Butuh Dana Instan: </a:t>
            </a:r>
            <a:r>
              <a:rPr sz="1400" b="0">
                <a:solidFill>
                  <a:srgbClr val="1E293B"/>
                </a:solidFill>
                <a:latin typeface="Arial"/>
              </a:rPr>
              <a:t>Tergiur proses pencairan dana cepat tanpa verifikasi yang rumit.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5 Langkah Memulai Smart Syariah Financial Planning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Tahapan Perencanaan Keuangan Berkah untuk Mahasiswa &amp; Keluarga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1. Mindset Halal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Fokus mencari keberkahan harta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210312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2. Rencana Anggaran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Formula 40-30-20-10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210312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3. Zakat / Sedekah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Utamakan berbagi di awal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210312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4. Investasi Halal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Reksadana &amp; Emas Syariah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210312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0"/>
          <a:lstStyle/>
          <a:p>
            <a:pPr algn="ctr">
              <a:defRPr sz="1600" b="1">
                <a:solidFill>
                  <a:srgbClr val="064E3B"/>
                </a:solidFill>
                <a:latin typeface="Georgia"/>
              </a:defRPr>
            </a:pPr>
            <a:r>
              <a:t>5. Dana Darurat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Minimal 3x pengeluaran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Halal-Way is My Way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Gaya Hidup Halal Menuju Ketenangan Finansial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84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48640"/>
          <a:lstStyle/>
          <a:p>
            <a:pPr algn="ctr">
              <a:defRPr sz="2600" b="1">
                <a:solidFill>
                  <a:srgbClr val="064E3B"/>
                </a:solidFill>
                <a:latin typeface="Georgia"/>
              </a:defRPr>
            </a:pPr>
            <a:r>
              <a:t>Fokus Pada Keberkahan &amp; Ketenangan Hidup</a:t>
            </a:r>
          </a:p>
          <a:p>
            <a:pPr>
              <a:spcBef>
                <a:spcPts val="16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Hindari Riba, Gharar, dan Maysir dalam segala bentuk transaksi keuangan harian.</a:t>
            </a:r>
            <a:br/>
            <a:br/>
            <a:r>
              <a:t>Ubah mindset dari sekadar 'mencari untung sebanyak-banyaknya' menjadi 'fokus mencari keberkahan dalam hidup' yang akan membawa kita pada ketenangan, kedamaian, dan ridha Allah SWT.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My Smart Syariah Financial Planning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Buat Rencana Keuangan Syariahmu dengan Formula 40-30-20-10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/>
          <a:lstStyle/>
          <a:p>
            <a:pPr algn="ctr">
              <a:defRPr sz="2200" b="1">
                <a:solidFill>
                  <a:srgbClr val="064E3B"/>
                </a:solidFill>
                <a:latin typeface="Georgia"/>
              </a:defRPr>
            </a:pPr>
            <a:r>
              <a:t>Formula Alokasi Keuangan Ideal: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Arial"/>
              </a:defRPr>
            </a:pPr>
            <a:r>
              <a:t>• 40% Kebutuhan Pokok (Makan, tempat tinggal, kewajiban harian)</a:t>
            </a:r>
            <a:br/>
            <a:r>
              <a:t>• 30% Pendidikan &amp; Transportasi (Uang kuliah, buku, bensin/ongkos)</a:t>
            </a:r>
            <a:br/>
            <a:r>
              <a:t>• 20% Tabungan &amp; Investasi Halal (Reksadana syariah, emas digital)</a:t>
            </a:r>
            <a:br/>
            <a:r>
              <a:t>• 10% Sedekah &amp; Zakat (Berbagi untuk sesama di awal gajian)</a:t>
            </a:r>
          </a:p>
          <a:p>
            <a:pPr>
              <a:spcBef>
                <a:spcPts val="2000"/>
              </a:spcBef>
              <a:defRPr sz="1500" b="1">
                <a:solidFill>
                  <a:srgbClr val="C5A059"/>
                </a:solidFill>
                <a:latin typeface="Arial"/>
              </a:defRPr>
            </a:pPr>
            <a:r>
              <a:t>Yuk, coba buat rencana keuanganmu sendiri melalui tautan:</a:t>
            </a:r>
            <a:br/>
            <a:r>
              <a:t>https://s.id/mysmartsyariahfinancialplanning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Tabungan &amp; Investasi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Pilih Instrumen Investasi Syariah yang Aman &amp; Terdaftar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defRPr sz="2200" b="1">
                <a:solidFill>
                  <a:srgbClr val="064E3B"/>
                </a:solidFill>
                <a:latin typeface="Georgia"/>
              </a:defRPr>
            </a:pPr>
            <a:r>
              <a:t>Instrumen Investasi Halal Terdaftar OJK &amp; DSN-MUI: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Arial"/>
              </a:defRPr>
            </a:pPr>
            <a:r>
              <a:t>Mulai berinvestasi pada Reksadana Syariah, Emas Digital, Saham Syariah (JII &amp; ISSI), serta Sukuk Negara.</a:t>
            </a:r>
            <a:br/>
            <a:br/>
            <a:r>
              <a:t>Pastikan platform sekuritas/aplikasi terdaftar resmi dan berizin OJK, serta mengantongi sertifikasi kepatuhan Fatwa DSN-MUI.</a:t>
            </a:r>
          </a:p>
          <a:p>
            <a:pPr>
              <a:spcBef>
                <a:spcPts val="1600"/>
              </a:spcBef>
              <a:defRPr sz="1500" b="1">
                <a:solidFill>
                  <a:srgbClr val="C5A059"/>
                </a:solidFill>
                <a:latin typeface="Arial"/>
              </a:defRPr>
            </a:pPr>
            <a:r>
              <a:t>💡 Trik Investasi Mahasiswa:</a:t>
            </a:r>
            <a:br/>
            <a:r>
              <a:t>Gunakan metode investasi rutin per bulan (Dollar-Cost Averaging / DCA) mulai dari nominal kecil Rp10.000 secara konsisten.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Dana Darurat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Fondasi Keamanan Finansial Sebelum Berinvestasi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84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defRPr sz="2400" b="1">
                <a:solidFill>
                  <a:srgbClr val="064E3B"/>
                </a:solidFill>
                <a:latin typeface="Georgia"/>
              </a:defRPr>
            </a:pPr>
            <a:r>
              <a:t>Sisihkan Dana Darurat Minimal 3x Pengeluaran Bulanan</a:t>
            </a:r>
          </a:p>
          <a:p>
            <a:pPr>
              <a:spcBef>
                <a:spcPts val="1600"/>
              </a:spcBef>
              <a:defRPr sz="1600">
                <a:solidFill>
                  <a:srgbClr val="1E293B"/>
                </a:solidFill>
                <a:latin typeface="Arial"/>
              </a:defRPr>
            </a:pPr>
            <a:r>
              <a:t>Dana darurat berfungsi sebagai benteng perlindungan utama agar saat terjadi musibah mendadak (sakit, ganti laptop, atau krisis), kita tidak terjebak menggunakan pinjol atau berutang riba.</a:t>
            </a:r>
            <a:br/>
            <a:br/>
            <a:r>
              <a:t>Simpan dana darurat di instrumen cair yang aman seperti Tabungan Syariah Wadi'ah atau Reksadana Pasar Uang Syariah.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Solusi Praktis: Cobalah Sharify AI Co-Pilot!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Asisten Keuangan Syariah Pintar Berbasis AI &amp; Fatwa DSN-MUI dalam Satu Genggaman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8580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064E3B"/>
                </a:solidFill>
                <a:latin typeface="Georgia"/>
              </a:defRPr>
            </a:pPr>
            <a:r>
              <a:t>Fitur Pintar Sharify App:</a:t>
            </a:r>
          </a:p>
          <a:p>
            <a:pPr>
              <a:spcBef>
                <a:spcPts val="1000"/>
              </a:spcBef>
              <a:defRPr sz="1500" b="1">
                <a:solidFill>
                  <a:srgbClr val="064E3B"/>
                </a:solidFill>
                <a:latin typeface="Georgia"/>
              </a:defRPr>
            </a:pPr>
            <a:r>
              <a:t>🤖 AI Chatbot Syariah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Konsultasi hukum Fiqh Muamalah &amp; Fatwa DSN-MUI 24/7 (Anti-Ngarang).</a:t>
            </a:r>
          </a:p>
          <a:p>
            <a:pPr>
              <a:spcBef>
                <a:spcPts val="1000"/>
              </a:spcBef>
              <a:defRPr sz="1500" b="1">
                <a:solidFill>
                  <a:srgbClr val="064E3B"/>
                </a:solidFill>
                <a:latin typeface="Georgia"/>
              </a:defRPr>
            </a:pPr>
            <a:r>
              <a:t>🧮 Smart Zakat &amp; Faraidh Calculator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Hitung zakat profesi, saham, &amp; waris otomatis secara presisi.</a:t>
            </a:r>
          </a:p>
          <a:p>
            <a:pPr>
              <a:spcBef>
                <a:spcPts val="1000"/>
              </a:spcBef>
              <a:defRPr sz="1500" b="1">
                <a:solidFill>
                  <a:srgbClr val="064E3B"/>
                </a:solidFill>
                <a:latin typeface="Georgia"/>
              </a:defRPr>
            </a:pPr>
            <a:r>
              <a:t>🛡️ Riba Detox &amp; Halal Asset Screener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Simulasi bebas utang riba &amp; cek kepatuhan syariah aset Anda.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737360"/>
            <a:ext cx="3566160" cy="45720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600" b="1">
                <a:solidFill>
                  <a:srgbClr val="C5A059"/>
                </a:solidFill>
                <a:latin typeface="Georgia"/>
              </a:defRPr>
            </a:pPr>
            <a:r>
              <a:t>SCAN UNTUK COBA</a:t>
            </a:r>
          </a:p>
        </p:txBody>
      </p:sp>
      <p:pic>
        <p:nvPicPr>
          <p:cNvPr id="5" name="Picture 4" descr="sharify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377440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50292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5E6C8"/>
                </a:solidFill>
                <a:latin typeface="Arial"/>
              </a:defRPr>
            </a:pPr>
            <a:r>
              <a:t>Akses Langsung via Browser: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s.id/mysmartsyariahfinancialplanning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4E3B"/>
                </a:solidFill>
                <a:latin typeface="Georgia"/>
              </a:defRPr>
            </a:pPr>
            <a:r>
              <a:t>Tonight's Treasures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Apresiasi Peserta Pengabdian Masyarakat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400" b="1">
                <a:solidFill>
                  <a:srgbClr val="064E3B"/>
                </a:solidFill>
                <a:latin typeface="Georgia"/>
              </a:defRPr>
            </a:pPr>
            <a:r>
              <a:t>Grand Prize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Arial"/>
              </a:defRPr>
            </a:pPr>
            <a:r>
              <a:t>The winning team takes home the Studio Shodwe 'Royal Iftar' Hamper.</a:t>
            </a:r>
            <a:br/>
            <a:br/>
            <a:r>
              <a:t>Includes rare honey, Zamzam water, premium Ajwa dates, and custom prayer mats.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400" b="1">
                <a:solidFill>
                  <a:srgbClr val="064E3B"/>
                </a:solidFill>
                <a:latin typeface="Georgia"/>
              </a:defRPr>
            </a:pPr>
            <a:r>
              <a:t>Runner Up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Arial"/>
              </a:defRPr>
            </a:pPr>
            <a:r>
              <a:t>Gift vouchers for the finest Halal dining experience in the city.</a:t>
            </a:r>
            <a:br/>
            <a:br/>
            <a:r>
              <a:t>Voucher kuliner halal eksklusif &amp; merchandise spesial.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3600" b="1">
                <a:solidFill>
                  <a:srgbClr val="C5A059"/>
                </a:solidFill>
                <a:latin typeface="Georgia"/>
              </a:defRPr>
            </a:pPr>
            <a:r>
              <a:t>Terima Kasih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KELOMPOK MAHASISWA MAGISTER MANAJEMEN</a:t>
            </a:r>
            <a:br/>
            <a:r>
              <a:t>UNIVERSITAS PARAMADINA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5E6C8"/>
                </a:solidFill>
                <a:latin typeface="Arial"/>
              </a:defRPr>
            </a:pPr>
            <a:r>
              <a:t>Asep Ajaeni  •  Ayu Nadia Faishol  •  Fachrul Rozie Yudha Gunawan</a:t>
            </a:r>
            <a:br/>
            <a:r>
              <a:t>Gemma Santoni Harahap  •  Harimurti Mustikayudha Satriyatama</a:t>
            </a:r>
            <a:br/>
            <a:r>
              <a:t>Iqbal Rizky Nugroho  •  Nova Indah T  •  Rahmat Abrori</a:t>
            </a:r>
            <a:br/>
            <a:r>
              <a:t>Shinta Asrini  •  Tomi Margiantara Sugito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